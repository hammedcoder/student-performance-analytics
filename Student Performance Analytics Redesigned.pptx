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5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58200" y="9144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DATA ANALYTICS
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694944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Improving Student Academic
Performance Through Data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432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DBEAFE"/>
                </a:solidFill>
                <a:latin typeface="Aptos"/>
              </a:rPr>
              <a:t>Identifying the Key Drivers of Student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Rafiu Hammed Abiola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26280"/>
            <a:ext cx="564590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chemeClr val="bg1"/>
                </a:solidFill>
                <a:latin typeface="Aptos"/>
              </a:rPr>
              <a:t>Mentor: Yusuf Godwin   •   Group: </a:t>
            </a:r>
            <a:r>
              <a:rPr lang="en-US" sz="1200" b="1" dirty="0">
                <a:solidFill>
                  <a:schemeClr val="bg1"/>
                </a:solidFill>
                <a:latin typeface="Aptos"/>
              </a:rPr>
              <a:t>c3 adv. Data analysis &amp; visualization 002</a:t>
            </a:r>
            <a:endParaRPr sz="12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476290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dirty="0" err="1">
                <a:solidFill>
                  <a:srgbClr val="CBD5E1"/>
                </a:solidFill>
                <a:latin typeface="Aptos"/>
              </a:rPr>
              <a:t>Deep_Tech</a:t>
            </a:r>
            <a:r>
              <a:rPr b="0" dirty="0">
                <a:solidFill>
                  <a:srgbClr val="CBD5E1"/>
                </a:solidFill>
                <a:latin typeface="Aptos"/>
              </a:rPr>
              <a:t>/</a:t>
            </a:r>
            <a:r>
              <a:rPr b="0" dirty="0" err="1">
                <a:solidFill>
                  <a:srgbClr val="CBD5E1"/>
                </a:solidFill>
                <a:latin typeface="Aptos"/>
              </a:rPr>
              <a:t>WESOnline</a:t>
            </a:r>
            <a:r>
              <a:rPr b="0" dirty="0">
                <a:solidFill>
                  <a:srgbClr val="CBD5E1"/>
                </a:solidFill>
                <a:latin typeface="Aptos"/>
              </a:rPr>
              <a:t> Mentorship Program
End-of-Cohort Project Presentation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4526280"/>
            <a:ext cx="347472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208007" y="4114800"/>
            <a:ext cx="347472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774936" y="3703320"/>
            <a:ext cx="347472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341863" y="3246120"/>
            <a:ext cx="347472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2554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754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338" y="6446746"/>
            <a:ext cx="63700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>
                <a:solidFill>
                  <a:srgbClr val="6B7280"/>
                </a:solidFill>
                <a:latin typeface="Aptos"/>
              </a:rPr>
              <a:t>Student Academic Performance Analytics  |  </a:t>
            </a:r>
            <a:r>
              <a:rPr sz="1600" b="0" dirty="0" err="1">
                <a:solidFill>
                  <a:srgbClr val="6B7280"/>
                </a:solidFill>
                <a:latin typeface="Aptos"/>
              </a:rPr>
              <a:t>Deep_Tech</a:t>
            </a:r>
            <a:r>
              <a:rPr sz="1600" b="0" dirty="0">
                <a:solidFill>
                  <a:srgbClr val="6B7280"/>
                </a:solidFill>
                <a:latin typeface="Aptos"/>
              </a:rPr>
              <a:t>/</a:t>
            </a:r>
            <a:r>
              <a:rPr sz="1600" b="0" dirty="0" err="1">
                <a:solidFill>
                  <a:srgbClr val="6B7280"/>
                </a:solidFill>
                <a:latin typeface="Aptos"/>
              </a:rPr>
              <a:t>WESOnline</a:t>
            </a:r>
            <a:endParaRPr sz="1600" b="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72554"/>
                </a:solidFill>
                <a:latin typeface="Aptos"/>
              </a:rPr>
              <a:t>Turning student records into decisions remains a challenge.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4290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6112" y="2103120"/>
            <a:ext cx="475488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267712"/>
            <a:ext cx="47548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6148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Aptos"/>
              </a:rPr>
              <a:t>Data overload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3" y="3246120"/>
            <a:ext cx="30247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F2937"/>
                </a:solidFill>
                <a:latin typeface="Aptos"/>
              </a:rPr>
              <a:t>Schools collect student records </a:t>
            </a:r>
            <a:endParaRPr lang="en-US" sz="1600" b="0" dirty="0" smtClean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600" b="0" dirty="0" smtClean="0">
                <a:solidFill>
                  <a:srgbClr val="1F2937"/>
                </a:solidFill>
                <a:latin typeface="Aptos"/>
              </a:rPr>
              <a:t>but </a:t>
            </a:r>
            <a:r>
              <a:rPr sz="1600" b="0" dirty="0">
                <a:solidFill>
                  <a:srgbClr val="1F2937"/>
                </a:solidFill>
                <a:latin typeface="Aptos"/>
              </a:rPr>
              <a:t>may </a:t>
            </a:r>
            <a:r>
              <a:rPr sz="1600" b="0" dirty="0" smtClean="0">
                <a:solidFill>
                  <a:srgbClr val="1F2937"/>
                </a:solidFill>
                <a:latin typeface="Aptos"/>
              </a:rPr>
              <a:t>struggle </a:t>
            </a:r>
            <a:r>
              <a:rPr sz="1600" b="0" dirty="0">
                <a:solidFill>
                  <a:srgbClr val="1F2937"/>
                </a:solidFill>
                <a:latin typeface="Aptos"/>
              </a:rPr>
              <a:t>to convert them </a:t>
            </a:r>
            <a:r>
              <a:rPr sz="1600" b="0" dirty="0" smtClean="0">
                <a:solidFill>
                  <a:srgbClr val="1F2937"/>
                </a:solidFill>
                <a:latin typeface="Aptos"/>
              </a:rPr>
              <a:t>into actionable </a:t>
            </a:r>
            <a:r>
              <a:rPr sz="1600" b="0" dirty="0">
                <a:solidFill>
                  <a:srgbClr val="1F2937"/>
                </a:solidFill>
                <a:latin typeface="Aptos"/>
              </a:rPr>
              <a:t>insights.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28800"/>
            <a:ext cx="34290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90872" y="2103120"/>
            <a:ext cx="475488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2267712"/>
            <a:ext cx="47548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76148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Aptos"/>
              </a:rPr>
              <a:t>Hidden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3246120"/>
            <a:ext cx="28346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F2937"/>
                </a:solidFill>
                <a:latin typeface="Aptos"/>
              </a:rPr>
              <a:t>Performance differences and student </a:t>
            </a:r>
            <a:r>
              <a:rPr sz="1600" b="0" dirty="0" smtClean="0">
                <a:solidFill>
                  <a:srgbClr val="1F2937"/>
                </a:solidFill>
                <a:latin typeface="Aptos"/>
              </a:rPr>
              <a:t>groups </a:t>
            </a:r>
            <a:r>
              <a:rPr sz="1600" b="0" dirty="0">
                <a:solidFill>
                  <a:srgbClr val="1F2937"/>
                </a:solidFill>
                <a:latin typeface="Aptos"/>
              </a:rPr>
              <a:t>can be difficult to identify from raw </a:t>
            </a:r>
            <a:endParaRPr lang="en-US" sz="1600" b="0" dirty="0" smtClean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600" b="0" dirty="0" smtClean="0">
                <a:solidFill>
                  <a:srgbClr val="1F2937"/>
                </a:solidFill>
                <a:latin typeface="Aptos"/>
              </a:rPr>
              <a:t>records</a:t>
            </a:r>
            <a:r>
              <a:rPr sz="1600" b="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34290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85632" y="2103120"/>
            <a:ext cx="475488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85632" y="2267712"/>
            <a:ext cx="47548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76148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Aptos"/>
              </a:rPr>
              <a:t>Targeted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3" y="3246120"/>
            <a:ext cx="28529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F2937"/>
                </a:solidFill>
                <a:latin typeface="Aptos"/>
              </a:rPr>
              <a:t>Without evidence, </a:t>
            </a:r>
            <a:r>
              <a:rPr sz="1600" b="0" dirty="0" smtClean="0">
                <a:solidFill>
                  <a:srgbClr val="1F2937"/>
                </a:solidFill>
                <a:latin typeface="Aptos"/>
              </a:rPr>
              <a:t>interventions </a:t>
            </a:r>
            <a:r>
              <a:rPr sz="1600" b="0" dirty="0">
                <a:solidFill>
                  <a:srgbClr val="1F2937"/>
                </a:solidFill>
                <a:latin typeface="Aptos"/>
              </a:rPr>
              <a:t>may be </a:t>
            </a:r>
            <a:endParaRPr lang="en-US" sz="1600" b="0" dirty="0" smtClean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600" b="0" dirty="0" smtClean="0">
                <a:solidFill>
                  <a:srgbClr val="1F2937"/>
                </a:solidFill>
                <a:latin typeface="Aptos"/>
              </a:rPr>
              <a:t>broad </a:t>
            </a:r>
            <a:r>
              <a:rPr sz="1600" b="0" dirty="0">
                <a:solidFill>
                  <a:srgbClr val="1F2937"/>
                </a:solidFill>
                <a:latin typeface="Aptos"/>
              </a:rPr>
              <a:t>rather than focused.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49240"/>
            <a:ext cx="184858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dirty="0">
                <a:solidFill>
                  <a:srgbClr val="2563EB"/>
                </a:solidFill>
                <a:latin typeface="Aptos"/>
              </a:rPr>
              <a:t>Project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742432"/>
            <a:ext cx="9235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dirty="0">
                <a:solidFill>
                  <a:srgbClr val="172554"/>
                </a:solidFill>
                <a:latin typeface="Aptos"/>
              </a:rPr>
              <a:t>Build a repeatable analytics workflow that turns raw student data into clear evidence for academic decisions.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2554"/>
                </a:solidFill>
                <a:latin typeface="Aptos"/>
              </a:rPr>
              <a:t>Project Overview /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754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7120"/>
            <a:ext cx="63700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>
                <a:solidFill>
                  <a:srgbClr val="6B7280"/>
                </a:solidFill>
                <a:latin typeface="Aptos"/>
              </a:rPr>
              <a:t>Student Academic Performance Analytics  |  </a:t>
            </a:r>
            <a:r>
              <a:rPr sz="1600" b="0" dirty="0" err="1">
                <a:solidFill>
                  <a:srgbClr val="6B7280"/>
                </a:solidFill>
                <a:latin typeface="Aptos"/>
              </a:rPr>
              <a:t>Deep_Tech</a:t>
            </a:r>
            <a:r>
              <a:rPr sz="1600" b="0" dirty="0">
                <a:solidFill>
                  <a:srgbClr val="6B7280"/>
                </a:solidFill>
                <a:latin typeface="Aptos"/>
              </a:rPr>
              <a:t>/</a:t>
            </a:r>
            <a:r>
              <a:rPr sz="1600" b="0" dirty="0" err="1">
                <a:solidFill>
                  <a:srgbClr val="6B7280"/>
                </a:solidFill>
                <a:latin typeface="Aptos"/>
              </a:rPr>
              <a:t>WESOnline</a:t>
            </a:r>
            <a:endParaRPr sz="1600" b="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72554"/>
                </a:solidFill>
                <a:latin typeface="Aptos"/>
              </a:rPr>
              <a:t>From raw records to actionable educational insight.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46888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2121408"/>
            <a:ext cx="868680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3182" y="2212848"/>
            <a:ext cx="58823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2563EB"/>
                </a:solidFill>
                <a:latin typeface="Aptos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72554"/>
                </a:solidFill>
                <a:latin typeface="Aptos"/>
              </a:rPr>
              <a:t>Clean &amp; prepare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975" y="3337560"/>
            <a:ext cx="219322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>
                <a:solidFill>
                  <a:srgbClr val="6B7280"/>
                </a:solidFill>
                <a:latin typeface="Aptos"/>
              </a:rPr>
              <a:t>Power Query /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1" y="27889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874519"/>
            <a:ext cx="246888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703320" y="2121408"/>
            <a:ext cx="868680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9301" y="2212848"/>
            <a:ext cx="89672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2563EB"/>
                </a:solidFill>
                <a:latin typeface="Aptos"/>
              </a:rPr>
              <a:t>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7889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dirty="0">
                <a:solidFill>
                  <a:srgbClr val="172554"/>
                </a:solidFill>
                <a:latin typeface="Aptos"/>
              </a:rPr>
              <a:t>Explore 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337560"/>
            <a:ext cx="14061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>
                <a:solidFill>
                  <a:srgbClr val="6B7280"/>
                </a:solidFill>
                <a:latin typeface="Aptos"/>
              </a:rPr>
              <a:t>Python / 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752" y="27889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874519"/>
            <a:ext cx="246888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83680" y="2121408"/>
            <a:ext cx="868680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23333" y="2212848"/>
            <a:ext cx="98937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2563EB"/>
                </a:solidFill>
                <a:latin typeface="Aptos"/>
              </a:rPr>
              <a:t>VISUALIZE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7889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72554"/>
                </a:solidFill>
                <a:latin typeface="Aptos"/>
              </a:rPr>
              <a:t>Build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337560"/>
            <a:ext cx="101662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>
                <a:solidFill>
                  <a:srgbClr val="6B7280"/>
                </a:solidFill>
                <a:latin typeface="Aptos"/>
              </a:rPr>
              <a:t>Power 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7112" y="27889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1874519"/>
            <a:ext cx="246888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464040" y="2121408"/>
            <a:ext cx="868680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15904" y="2212848"/>
            <a:ext cx="7649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2563EB"/>
                </a:solidFill>
                <a:latin typeface="Aptos"/>
              </a:rPr>
              <a:t>DECIDE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27889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dirty="0">
                <a:solidFill>
                  <a:srgbClr val="172554"/>
                </a:solidFill>
                <a:latin typeface="Aptos"/>
              </a:rPr>
              <a:t>Act on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3337560"/>
            <a:ext cx="197522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>
                <a:solidFill>
                  <a:srgbClr val="6B7280"/>
                </a:solidFill>
                <a:latin typeface="Aptos"/>
              </a:rPr>
              <a:t>Educators / schools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892040"/>
            <a:ext cx="134684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dirty="0">
                <a:solidFill>
                  <a:srgbClr val="2563EB"/>
                </a:solidFill>
                <a:latin typeface="Aptos"/>
              </a:rPr>
              <a:t>Core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9927" y="5259685"/>
            <a:ext cx="95028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2937"/>
                </a:solidFill>
                <a:latin typeface="Aptos"/>
              </a:rPr>
              <a:t>An interactive Power BI dashboard for KPIs, performance distribution, subject analysis, and attendance relationships.</a:t>
            </a:r>
            <a:endParaRPr lang="en-US" dirty="0">
              <a:solidFill>
                <a:srgbClr val="1F2937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2554"/>
                </a:solidFill>
                <a:latin typeface="Aptos"/>
              </a:rPr>
              <a:t>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754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85560"/>
            <a:ext cx="63700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>
                <a:solidFill>
                  <a:srgbClr val="6B7280"/>
                </a:solidFill>
                <a:latin typeface="Aptos"/>
              </a:rPr>
              <a:t>Student Academic Performance Analytics  |  </a:t>
            </a:r>
            <a:r>
              <a:rPr sz="1600" b="0" dirty="0" err="1">
                <a:solidFill>
                  <a:srgbClr val="6B7280"/>
                </a:solidFill>
                <a:latin typeface="Aptos"/>
              </a:rPr>
              <a:t>Deep_Tech</a:t>
            </a:r>
            <a:r>
              <a:rPr sz="1600" b="0" dirty="0">
                <a:solidFill>
                  <a:srgbClr val="6B7280"/>
                </a:solidFill>
                <a:latin typeface="Aptos"/>
              </a:rPr>
              <a:t>/</a:t>
            </a:r>
            <a:r>
              <a:rPr sz="1600" b="0" dirty="0" err="1">
                <a:solidFill>
                  <a:srgbClr val="6B7280"/>
                </a:solidFill>
                <a:latin typeface="Aptos"/>
              </a:rPr>
              <a:t>WESOnline</a:t>
            </a:r>
            <a:endParaRPr sz="1600" b="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658368" cy="6583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92224"/>
            <a:ext cx="65836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62763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Aptos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075688"/>
            <a:ext cx="132440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dirty="0">
                <a:solidFill>
                  <a:srgbClr val="6B7280"/>
                </a:solidFill>
                <a:latin typeface="Aptos"/>
              </a:rPr>
              <a:t>Pandas • EDA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63440" y="1600200"/>
            <a:ext cx="658368" cy="658368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792224"/>
            <a:ext cx="65836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162763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Aptos"/>
              </a:rPr>
              <a:t>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075688"/>
            <a:ext cx="184044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>
                <a:solidFill>
                  <a:srgbClr val="6B7280"/>
                </a:solidFill>
                <a:latin typeface="Aptos"/>
              </a:rPr>
              <a:t>Queries •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12480" y="1600200"/>
            <a:ext cx="658368" cy="6583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1792224"/>
            <a:ext cx="65836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XL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162763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Aptos"/>
              </a:rPr>
              <a:t>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075688"/>
            <a:ext cx="124425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>
                <a:solidFill>
                  <a:srgbClr val="6B7280"/>
                </a:solidFill>
                <a:latin typeface="Aptos"/>
              </a:rPr>
              <a:t>Preparation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383280"/>
            <a:ext cx="33375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4400" y="3657600"/>
            <a:ext cx="658368" cy="658368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849624"/>
            <a:ext cx="65836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368503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Aptos"/>
              </a:rPr>
              <a:t>Power Query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133088"/>
            <a:ext cx="210333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>
                <a:solidFill>
                  <a:srgbClr val="6B7280"/>
                </a:solidFill>
                <a:latin typeface="Aptos"/>
              </a:rPr>
              <a:t>Cleaning • Transform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383280"/>
            <a:ext cx="33375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663440" y="3657600"/>
            <a:ext cx="658368" cy="6583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63440" y="3849624"/>
            <a:ext cx="65836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BI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368503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Aptos"/>
              </a:rPr>
              <a:t>Power BI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4133088"/>
            <a:ext cx="179408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>
                <a:solidFill>
                  <a:srgbClr val="6B7280"/>
                </a:solidFill>
                <a:latin typeface="Aptos"/>
              </a:rPr>
              <a:t>Dashboard • DAX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79" y="3383280"/>
            <a:ext cx="33375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412480" y="3657600"/>
            <a:ext cx="658368" cy="658368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0" y="3849624"/>
            <a:ext cx="65836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59" y="368503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Aptos"/>
              </a:rPr>
              <a:t>GitHub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59" y="4133088"/>
            <a:ext cx="156324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>
                <a:solidFill>
                  <a:srgbClr val="6B7280"/>
                </a:solidFill>
                <a:latin typeface="Aptos"/>
              </a:rPr>
              <a:t>Documentation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2554"/>
                </a:solidFill>
                <a:latin typeface="Aptos"/>
              </a:rPr>
              <a:t>Methodology /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754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88570"/>
            <a:ext cx="63700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>
                <a:solidFill>
                  <a:srgbClr val="6B7280"/>
                </a:solidFill>
                <a:latin typeface="Aptos"/>
              </a:rPr>
              <a:t>Student Academic Performance Analytics  |  </a:t>
            </a:r>
            <a:r>
              <a:rPr sz="1600" b="0" dirty="0" err="1">
                <a:solidFill>
                  <a:srgbClr val="6B7280"/>
                </a:solidFill>
                <a:latin typeface="Aptos"/>
              </a:rPr>
              <a:t>Deep_Tech</a:t>
            </a:r>
            <a:r>
              <a:rPr sz="1600" b="0" dirty="0">
                <a:solidFill>
                  <a:srgbClr val="6B7280"/>
                </a:solidFill>
                <a:latin typeface="Aptos"/>
              </a:rPr>
              <a:t>/</a:t>
            </a:r>
            <a:r>
              <a:rPr sz="1600" b="0" dirty="0" err="1">
                <a:solidFill>
                  <a:srgbClr val="6B7280"/>
                </a:solidFill>
                <a:latin typeface="Aptos"/>
              </a:rPr>
              <a:t>WESOnline</a:t>
            </a:r>
            <a:endParaRPr sz="1600" b="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72554"/>
                </a:solidFill>
                <a:latin typeface="Aptos"/>
              </a:rPr>
              <a:t>Seven stages from business question to decision-ready insight.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13716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6112" y="2286000"/>
            <a:ext cx="585216" cy="585216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478024"/>
            <a:ext cx="58521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969" y="3108960"/>
            <a:ext cx="127150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172554"/>
                </a:solidFill>
                <a:latin typeface="Aptos"/>
              </a:rPr>
              <a:t>Business
Understanding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8" y="292608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67128" y="2011680"/>
            <a:ext cx="13716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560320" y="2286000"/>
            <a:ext cx="585216" cy="5852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0320" y="2478024"/>
            <a:ext cx="58521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7177" y="3108960"/>
            <a:ext cx="127150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172554"/>
                </a:solidFill>
                <a:latin typeface="Aptos"/>
              </a:rPr>
              <a:t>Data
Understanding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292608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31336" y="2011680"/>
            <a:ext cx="13716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24528" y="2286000"/>
            <a:ext cx="585216" cy="585216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24528" y="2478024"/>
            <a:ext cx="58521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2449" y="3108960"/>
            <a:ext cx="98937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172554"/>
                </a:solidFill>
                <a:latin typeface="Aptos"/>
              </a:rPr>
              <a:t>Cleaning &amp;
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292608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95544" y="2011680"/>
            <a:ext cx="13716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888736" y="2286000"/>
            <a:ext cx="585216" cy="5852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88736" y="2478024"/>
            <a:ext cx="58521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27107" y="3108960"/>
            <a:ext cx="50847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172554"/>
                </a:solidFill>
                <a:latin typeface="Aptos"/>
              </a:rPr>
              <a:t>EDA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5431" y="292608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59752" y="2011680"/>
            <a:ext cx="13716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552944" y="2286000"/>
            <a:ext cx="585216" cy="585216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52944" y="2478024"/>
            <a:ext cx="58521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97352" y="3108960"/>
            <a:ext cx="8963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172554"/>
                </a:solidFill>
                <a:latin typeface="Aptos"/>
              </a:rPr>
              <a:t>KPI
Definition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292608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3960" y="2011680"/>
            <a:ext cx="13716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217152" y="2286000"/>
            <a:ext cx="585216" cy="5852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17152" y="2478024"/>
            <a:ext cx="58521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15875" y="3108960"/>
            <a:ext cx="98777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172554"/>
                </a:solidFill>
                <a:latin typeface="Aptos"/>
              </a:rPr>
              <a:t>Power BI
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13848" y="292608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88168" y="2011680"/>
            <a:ext cx="13716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881360" y="2286000"/>
            <a:ext cx="585216" cy="585216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881360" y="2478024"/>
            <a:ext cx="58521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52645" y="3108960"/>
            <a:ext cx="124264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172554"/>
                </a:solidFill>
                <a:latin typeface="Aptos"/>
              </a:rPr>
              <a:t>Insights &amp;
</a:t>
            </a:r>
            <a:r>
              <a:rPr sz="1200" b="1" dirty="0" err="1" smtClean="0">
                <a:solidFill>
                  <a:srgbClr val="172554"/>
                </a:solidFill>
                <a:latin typeface="Aptos"/>
              </a:rPr>
              <a:t>Recommenda</a:t>
            </a:r>
            <a:r>
              <a:rPr lang="en-US" sz="1200" b="1" dirty="0" smtClean="0">
                <a:solidFill>
                  <a:srgbClr val="172554"/>
                </a:solidFill>
                <a:latin typeface="Aptos"/>
              </a:rPr>
              <a:t>-</a:t>
            </a:r>
          </a:p>
          <a:p>
            <a:pPr algn="ctr"/>
            <a:r>
              <a:rPr sz="1200" b="1" dirty="0" err="1" smtClean="0">
                <a:solidFill>
                  <a:srgbClr val="172554"/>
                </a:solidFill>
                <a:latin typeface="Aptos"/>
              </a:rPr>
              <a:t>tions</a:t>
            </a:r>
            <a:endParaRPr sz="1200" b="1" dirty="0">
              <a:solidFill>
                <a:srgbClr val="172554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0080" y="4937760"/>
            <a:ext cx="158569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dirty="0">
                <a:solidFill>
                  <a:srgbClr val="2563EB"/>
                </a:solidFill>
                <a:latin typeface="Aptos"/>
              </a:rPr>
              <a:t>Quality principle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98418" y="5360355"/>
            <a:ext cx="835036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>
                <a:solidFill>
                  <a:srgbClr val="1F2937"/>
                </a:solidFill>
                <a:latin typeface="Aptos"/>
              </a:rPr>
              <a:t>Each stage was documented so the analysis can be reproduced, reviewed, and extended.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 smtClean="0">
                <a:solidFill>
                  <a:srgbClr val="172554"/>
                </a:solidFill>
                <a:latin typeface="Aptos"/>
              </a:rPr>
              <a:t>Results / Demo</a:t>
            </a:r>
            <a:endParaRPr sz="2600" b="1" dirty="0">
              <a:solidFill>
                <a:srgbClr val="17255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0" y="4754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7845"/>
            <a:ext cx="63700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>
                <a:solidFill>
                  <a:srgbClr val="6B7280"/>
                </a:solidFill>
                <a:latin typeface="Aptos"/>
              </a:rPr>
              <a:t>Student Academic Performance Analytics  |  </a:t>
            </a:r>
            <a:r>
              <a:rPr sz="1600" b="0" dirty="0" err="1">
                <a:solidFill>
                  <a:srgbClr val="6B7280"/>
                </a:solidFill>
                <a:latin typeface="Aptos"/>
              </a:rPr>
              <a:t>Deep_Tech</a:t>
            </a:r>
            <a:r>
              <a:rPr sz="1600" b="0" dirty="0">
                <a:solidFill>
                  <a:srgbClr val="6B7280"/>
                </a:solidFill>
                <a:latin typeface="Aptos"/>
              </a:rPr>
              <a:t>/</a:t>
            </a:r>
            <a:r>
              <a:rPr sz="1600" b="0" dirty="0" err="1">
                <a:solidFill>
                  <a:srgbClr val="6B7280"/>
                </a:solidFill>
                <a:latin typeface="Aptos"/>
              </a:rPr>
              <a:t>WESOnline</a:t>
            </a:r>
            <a:endParaRPr sz="1600" b="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83996" y="734257"/>
            <a:ext cx="231185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dirty="0" smtClean="0">
                <a:solidFill>
                  <a:srgbClr val="2563EB"/>
                </a:solidFill>
                <a:latin typeface="Aptos"/>
              </a:rPr>
              <a:t>POWER BI DASHBOARD</a:t>
            </a:r>
            <a:endParaRPr sz="1400" b="1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458200" y="1234440"/>
            <a:ext cx="306324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32520" y="143560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72554"/>
                </a:solidFill>
                <a:latin typeface="Aptos"/>
              </a:rPr>
              <a:t>5,000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1984248"/>
            <a:ext cx="78899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dirty="0">
                <a:solidFill>
                  <a:srgbClr val="6B7280"/>
                </a:solidFill>
                <a:latin typeface="Aptos"/>
              </a:rPr>
              <a:t>Students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2743200"/>
            <a:ext cx="306324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32520" y="294436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72554"/>
                </a:solidFill>
                <a:latin typeface="Aptos"/>
              </a:rPr>
              <a:t>94.70%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493008"/>
            <a:ext cx="8595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dirty="0">
                <a:solidFill>
                  <a:srgbClr val="6B7280"/>
                </a:solidFill>
                <a:latin typeface="Aptos"/>
              </a:rPr>
              <a:t>Pass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4251960"/>
            <a:ext cx="306324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445312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72554"/>
                </a:solidFill>
                <a:latin typeface="Aptos"/>
              </a:rPr>
              <a:t>67.48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5001768"/>
            <a:ext cx="127310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dirty="0">
                <a:solidFill>
                  <a:srgbClr val="6B7280"/>
                </a:solidFill>
                <a:latin typeface="Aptos"/>
              </a:rPr>
              <a:t>Average Final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5806440"/>
            <a:ext cx="30684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dirty="0">
                <a:solidFill>
                  <a:srgbClr val="2563EB"/>
                </a:solidFill>
                <a:latin typeface="Aptos"/>
              </a:rPr>
              <a:t>60.70% scored within the 60–79% </a:t>
            </a:r>
            <a:endParaRPr lang="en-US" sz="1400" b="1" dirty="0" smtClean="0">
              <a:solidFill>
                <a:srgbClr val="2563EB"/>
              </a:solidFill>
              <a:latin typeface="Aptos"/>
            </a:endParaRPr>
          </a:p>
          <a:p>
            <a:pPr algn="l"/>
            <a:r>
              <a:rPr sz="1400" b="1" dirty="0" smtClean="0">
                <a:solidFill>
                  <a:srgbClr val="2563EB"/>
                </a:solidFill>
                <a:latin typeface="Aptos"/>
              </a:rPr>
              <a:t>final-percentage </a:t>
            </a:r>
            <a:r>
              <a:rPr sz="1400" b="1" dirty="0">
                <a:solidFill>
                  <a:srgbClr val="2563EB"/>
                </a:solidFill>
                <a:latin typeface="Aptos"/>
              </a:rPr>
              <a:t>range.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1131015"/>
            <a:ext cx="7909560" cy="49065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2554"/>
                </a:solidFill>
                <a:latin typeface="Aptos"/>
              </a:rPr>
              <a:t>Conclusion, Recommendations &amp; 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754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71700"/>
            <a:ext cx="63700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>
                <a:solidFill>
                  <a:srgbClr val="6B7280"/>
                </a:solidFill>
                <a:latin typeface="Aptos"/>
              </a:rPr>
              <a:t>Student Academic Performance Analytics  |  </a:t>
            </a:r>
            <a:r>
              <a:rPr sz="1600" b="0" dirty="0" err="1" smtClean="0">
                <a:solidFill>
                  <a:srgbClr val="6B7280"/>
                </a:solidFill>
                <a:latin typeface="Aptos"/>
              </a:rPr>
              <a:t>Deep_Tech</a:t>
            </a:r>
            <a:r>
              <a:rPr sz="1600" b="0" dirty="0" smtClean="0">
                <a:solidFill>
                  <a:srgbClr val="6B7280"/>
                </a:solidFill>
                <a:latin typeface="Aptos"/>
              </a:rPr>
              <a:t>/</a:t>
            </a:r>
            <a:r>
              <a:rPr sz="1600" b="0" dirty="0" err="1" smtClean="0">
                <a:solidFill>
                  <a:srgbClr val="6B7280"/>
                </a:solidFill>
                <a:latin typeface="Aptos"/>
              </a:rPr>
              <a:t>WESOnline</a:t>
            </a:r>
            <a:endParaRPr sz="1600" b="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188720"/>
            <a:ext cx="34290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188720"/>
            <a:ext cx="3429000" cy="530352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30632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KEY TAKEAWAYS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39112"/>
            <a:ext cx="100584" cy="1005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993392"/>
            <a:ext cx="157767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dirty="0">
                <a:solidFill>
                  <a:srgbClr val="1F2937"/>
                </a:solidFill>
                <a:latin typeface="Aptos"/>
              </a:rPr>
              <a:t>94.70% pass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43784"/>
            <a:ext cx="100584" cy="1005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798064"/>
            <a:ext cx="281038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dirty="0">
                <a:solidFill>
                  <a:srgbClr val="1F2937"/>
                </a:solidFill>
                <a:latin typeface="Aptos"/>
              </a:rPr>
              <a:t>67.48% average final percentage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648456"/>
            <a:ext cx="100584" cy="1005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3602736"/>
            <a:ext cx="208582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dirty="0">
                <a:solidFill>
                  <a:srgbClr val="1F2937"/>
                </a:solidFill>
                <a:latin typeface="Aptos"/>
              </a:rPr>
              <a:t>60.70% scored 60–79%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53128"/>
            <a:ext cx="100584" cy="1005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407408"/>
            <a:ext cx="25122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dirty="0">
                <a:solidFill>
                  <a:srgbClr val="1F2937"/>
                </a:solidFill>
                <a:latin typeface="Aptos"/>
              </a:rPr>
              <a:t>No single strong linear driver </a:t>
            </a:r>
            <a:endParaRPr lang="en-US" sz="1400" b="0" dirty="0" smtClean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400" b="0" dirty="0" smtClean="0">
                <a:solidFill>
                  <a:srgbClr val="1F2937"/>
                </a:solidFill>
                <a:latin typeface="Aptos"/>
              </a:rPr>
              <a:t>identified</a:t>
            </a:r>
            <a:endParaRPr sz="1400" b="0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416552" y="1188720"/>
            <a:ext cx="34290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416552" y="1188720"/>
            <a:ext cx="342900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9432" y="1371600"/>
            <a:ext cx="30632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RECOMMENDATIONS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45152" y="2039112"/>
            <a:ext cx="100584" cy="1005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73752" y="1993392"/>
            <a:ext cx="279852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dirty="0">
                <a:solidFill>
                  <a:srgbClr val="1F2937"/>
                </a:solidFill>
                <a:latin typeface="Aptos"/>
              </a:rPr>
              <a:t>Target lower-performing students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45152" y="2843784"/>
            <a:ext cx="100584" cy="1005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73752" y="2798064"/>
            <a:ext cx="302839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dirty="0">
                <a:solidFill>
                  <a:srgbClr val="1F2937"/>
                </a:solidFill>
                <a:latin typeface="Aptos"/>
              </a:rPr>
              <a:t>Support middle-performing students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45152" y="3648456"/>
            <a:ext cx="100584" cy="1005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73752" y="3602736"/>
            <a:ext cx="198644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dirty="0">
                <a:solidFill>
                  <a:srgbClr val="1F2937"/>
                </a:solidFill>
                <a:latin typeface="Aptos"/>
              </a:rPr>
              <a:t>Use multiple indicators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45152" y="4453128"/>
            <a:ext cx="100584" cy="1005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73752" y="4407408"/>
            <a:ext cx="259237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dirty="0">
                <a:solidFill>
                  <a:srgbClr val="1F2937"/>
                </a:solidFill>
                <a:latin typeface="Aptos"/>
              </a:rPr>
              <a:t>Collect richer educational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38744" y="1188720"/>
            <a:ext cx="34290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238744" y="1188720"/>
            <a:ext cx="3429000" cy="530352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21624" y="1371600"/>
            <a:ext cx="30632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FUTURE IMPROVEMENTS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67344" y="2039112"/>
            <a:ext cx="100584" cy="1005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95944" y="1993392"/>
            <a:ext cx="265168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dirty="0">
                <a:solidFill>
                  <a:srgbClr val="1F2937"/>
                </a:solidFill>
                <a:latin typeface="Aptos"/>
              </a:rPr>
              <a:t>Add teacher and school factors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67344" y="2843784"/>
            <a:ext cx="100584" cy="1005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95944" y="2798064"/>
            <a:ext cx="24817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dirty="0">
                <a:solidFill>
                  <a:srgbClr val="1F2937"/>
                </a:solidFill>
                <a:latin typeface="Aptos"/>
              </a:rPr>
              <a:t>Include engagement/context </a:t>
            </a:r>
            <a:endParaRPr lang="en-US" sz="1400" b="0" dirty="0" smtClean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400" b="0" dirty="0" smtClean="0">
                <a:solidFill>
                  <a:srgbClr val="1F2937"/>
                </a:solidFill>
                <a:latin typeface="Aptos"/>
              </a:rPr>
              <a:t>variables</a:t>
            </a:r>
            <a:endParaRPr sz="1400" b="0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467344" y="3648456"/>
            <a:ext cx="100584" cy="1005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95944" y="3602736"/>
            <a:ext cx="240482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dirty="0">
                <a:solidFill>
                  <a:srgbClr val="1F2937"/>
                </a:solidFill>
                <a:latin typeface="Aptos"/>
              </a:rPr>
              <a:t>Develop predictive analytics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67344" y="4453128"/>
            <a:ext cx="100584" cy="1005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95944" y="4407408"/>
            <a:ext cx="246413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dirty="0">
                <a:solidFill>
                  <a:srgbClr val="1F2937"/>
                </a:solidFill>
                <a:latin typeface="Aptos"/>
              </a:rPr>
              <a:t>Expand to additional schools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72554"/>
                </a:solidFill>
                <a:latin typeface="Aptos"/>
              </a:rPr>
              <a:t>Analytics should support—not replace—professional educational judgment.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415</Words>
  <Application>Microsoft Office PowerPoint</Application>
  <PresentationFormat>Widescreen</PresentationFormat>
  <Paragraphs>126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hexadesignLAB</dc:creator>
  <cp:keywords/>
  <dc:description>generated using python-pptx</dc:description>
  <cp:lastModifiedBy>hexadesignLAB</cp:lastModifiedBy>
  <cp:revision>7</cp:revision>
  <dcterms:created xsi:type="dcterms:W3CDTF">2013-01-27T09:14:16Z</dcterms:created>
  <dcterms:modified xsi:type="dcterms:W3CDTF">2026-08-16T07:03:52Z</dcterms:modified>
  <cp:category/>
</cp:coreProperties>
</file>